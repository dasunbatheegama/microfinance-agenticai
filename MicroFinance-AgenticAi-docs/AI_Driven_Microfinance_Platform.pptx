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None. Content based on the user-provided outline; visuals are original slide elements.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F_MASTER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37160"/>
            <a:ext cx="2286000" cy="2286000"/>
          </a:xfrm>
          <a:prstGeom prst="ellipse">
            <a:avLst/>
          </a:prstGeom>
          <a:solidFill>
            <a:srgbClr val="1C335C">
              <a:alpha val="85000"/>
            </a:srgbClr>
          </a:solidFill>
          <a:ln w="12700">
            <a:solidFill>
              <a:srgbClr val="1C335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51960"/>
            <a:ext cx="1737360" cy="1737360"/>
          </a:xfrm>
          <a:prstGeom prst="ellipse">
            <a:avLst/>
          </a:prstGeom>
          <a:solidFill>
            <a:srgbClr val="153056">
              <a:alpha val="85000"/>
            </a:srgbClr>
          </a:solidFill>
          <a:ln w="12700">
            <a:solidFill>
              <a:srgbClr val="153056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5212080"/>
            <a:ext cx="1188720" cy="1188720"/>
          </a:xfrm>
          <a:prstGeom prst="ellipse">
            <a:avLst/>
          </a:prstGeom>
          <a:solidFill>
            <a:srgbClr val="21C1B2">
              <a:alpha val="85000"/>
            </a:srgbClr>
          </a:solidFill>
          <a:ln w="12700">
            <a:solidFill>
              <a:srgbClr val="21C1B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F2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TRANSFORMING MICROFINANCE OPERATIONS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Microfinance Platform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58368" y="257860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Transforming traditional lending operations into an agentic AI-powered financial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58368" y="3474720"/>
            <a:ext cx="1783080" cy="329184"/>
          </a:xfrm>
          <a:prstGeom prst="roundRect">
            <a:avLst>
              <a:gd name="adj" fmla="val 33333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48386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assistants → AI agents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78608" y="3474720"/>
            <a:ext cx="1508760" cy="329184"/>
          </a:xfrm>
          <a:prstGeom prst="roundRect">
            <a:avLst>
              <a:gd name="adj" fmla="val 33333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8608" y="3483864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24528" y="3474720"/>
            <a:ext cx="1572768" cy="329184"/>
          </a:xfrm>
          <a:prstGeom prst="roundRect">
            <a:avLst>
              <a:gd name="adj" fmla="val 33333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3483864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Scalable operations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09560" y="1938528"/>
            <a:ext cx="1005840" cy="-694944"/>
          </a:xfrm>
          <a:prstGeom prst="line">
            <a:avLst/>
          </a:prstGeom>
          <a:noFill/>
          <a:ln w="12700">
            <a:solidFill>
              <a:srgbClr val="6DE0D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09560" y="1993392"/>
            <a:ext cx="1014984" cy="0"/>
          </a:xfrm>
          <a:prstGeom prst="line">
            <a:avLst/>
          </a:prstGeom>
          <a:noFill/>
          <a:ln w="12700">
            <a:solidFill>
              <a:srgbClr val="6DE0D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2029968"/>
            <a:ext cx="996696" cy="731520"/>
          </a:xfrm>
          <a:prstGeom prst="line">
            <a:avLst/>
          </a:prstGeom>
          <a:noFill/>
          <a:ln w="12700">
            <a:solidFill>
              <a:srgbClr val="6DE0D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0012680" y="2011680"/>
            <a:ext cx="978408" cy="0"/>
          </a:xfrm>
          <a:prstGeom prst="line">
            <a:avLst/>
          </a:prstGeom>
          <a:noFill/>
          <a:ln w="12700">
            <a:solidFill>
              <a:srgbClr val="86A0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0800" y="1417320"/>
            <a:ext cx="1508760" cy="1170432"/>
          </a:xfrm>
          <a:prstGeom prst="roundRect">
            <a:avLst>
              <a:gd name="adj" fmla="val 6250"/>
            </a:avLst>
          </a:prstGeom>
          <a:solidFill>
            <a:srgbClr val="123A66"/>
          </a:solidFill>
          <a:ln w="12700">
            <a:solidFill>
              <a:srgbClr val="3A5F97"/>
            </a:solidFill>
            <a:prstDash val="solid"/>
          </a:ln>
          <a:effectLst>
            <a:outerShdw sx="100000" sy="100000" kx="0" ky="0" algn="bl" rotWithShape="0" blurRad="22860" dist="127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1709928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Customer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Channels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915400" y="1325880"/>
            <a:ext cx="1097280" cy="1371600"/>
          </a:xfrm>
          <a:prstGeom prst="roundRect">
            <a:avLst>
              <a:gd name="adj" fmla="val 6667"/>
            </a:avLst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  <a:effectLst>
            <a:outerShdw sx="100000" sy="100000" kx="0" ky="0" algn="bl" rotWithShape="0" blurRad="22860" dist="127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15984" y="1682496"/>
            <a:ext cx="896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B1F3A"/>
                </a:solidFill>
              </a:rPr>
              <a:t>Office</a:t>
            </a:r>
            <a:endParaRPr lang="en-US" sz="1650" dirty="0"/>
          </a:p>
          <a:p>
            <a:pPr algn="ctr" indent="0" marL="0">
              <a:buNone/>
            </a:pPr>
            <a:r>
              <a:rPr lang="en-US" sz="1650" b="1" dirty="0">
                <a:solidFill>
                  <a:srgbClr val="0B1F3A"/>
                </a:solidFill>
              </a:rPr>
              <a:t>Coordinator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058400" y="786384"/>
            <a:ext cx="1298448" cy="694944"/>
          </a:xfrm>
          <a:prstGeom prst="roundRect">
            <a:avLst>
              <a:gd name="adj" fmla="val 10526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222992" y="9052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Loan Processing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222992" y="117043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Eligibility, documents, affordability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058400" y="1664208"/>
            <a:ext cx="1298448" cy="694944"/>
          </a:xfrm>
          <a:prstGeom prst="roundRect">
            <a:avLst>
              <a:gd name="adj" fmla="val 10526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22992" y="178308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22992" y="204825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Reminders, arrears, escalations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058400" y="2542032"/>
            <a:ext cx="1298448" cy="694944"/>
          </a:xfrm>
          <a:prstGeom prst="roundRect">
            <a:avLst>
              <a:gd name="adj" fmla="val 10526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222992" y="2660904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222992" y="2926080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Payments, balances, reconciliations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5349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7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multi-agent operating model for customer onboarding, underwriting, collections, and financial control.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2606040" cy="310896"/>
          </a:xfrm>
          <a:prstGeom prst="roundRect">
            <a:avLst>
              <a:gd name="adj" fmla="val 17647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microfinance operations are highly manual.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0292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91640"/>
            <a:ext cx="4700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operational challenges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956816"/>
            <a:ext cx="470001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Customer screening takes time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Loan processing involves many manual steps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Staff track repayments manually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Reminders and collections need constant follow-up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Managers lack real-time portfolio visibility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1572768"/>
            <a:ext cx="5669280" cy="1024128"/>
          </a:xfrm>
          <a:prstGeom prst="roundRect">
            <a:avLst>
              <a:gd name="adj" fmla="val 714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08192" y="1719072"/>
            <a:ext cx="5340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branch operations slow down the entire lending lifecycle.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943600" y="278892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08192" y="290779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inefficiency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08192" y="3172968"/>
            <a:ext cx="1426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time spent on repetitive branch tasks.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00416" y="278892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65008" y="290779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Higher risk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 errors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065008" y="3172968"/>
            <a:ext cx="1426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handoffs increase inconsistency and omissions.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57232" y="2788920"/>
            <a:ext cx="175564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21824" y="2907792"/>
            <a:ext cx="1426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Slow business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21824" y="3172968"/>
            <a:ext cx="1426464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depends on more staff and tighter supervision.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5166360"/>
            <a:ext cx="45262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4828032"/>
            <a:ext cx="1234440" cy="493776"/>
          </a:xfrm>
          <a:prstGeom prst="roundRect">
            <a:avLst>
              <a:gd name="adj" fmla="val 14815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956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63A"/>
                </a:solidFill>
              </a:rPr>
              <a:t>Inquiry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708392" y="4828032"/>
            <a:ext cx="1234440" cy="493776"/>
          </a:xfrm>
          <a:prstGeom prst="roundRect">
            <a:avLst>
              <a:gd name="adj" fmla="val 14815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08392" y="4956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63A"/>
                </a:solidFill>
              </a:rPr>
              <a:t>KYC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244584" y="4828032"/>
            <a:ext cx="1234440" cy="493776"/>
          </a:xfrm>
          <a:prstGeom prst="roundRect">
            <a:avLst>
              <a:gd name="adj" fmla="val 14815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44584" y="4956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63A"/>
                </a:solidFill>
              </a:rPr>
              <a:t>Approval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780776" y="4828032"/>
            <a:ext cx="1234440" cy="493776"/>
          </a:xfrm>
          <a:prstGeom prst="roundRect">
            <a:avLst>
              <a:gd name="adj" fmla="val 14815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0776" y="495604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8263A"/>
                </a:solidFill>
              </a:rPr>
              <a:t>Collection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0" y="5715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C7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result: slower customer response, weaker control, and limited capacity to scale.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Traditional Microfinance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C7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operational flow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1508760" cy="274320"/>
          </a:xfrm>
          <a:prstGeom prst="roundRect">
            <a:avLst>
              <a:gd name="adj" fmla="val 20000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16736"/>
            <a:ext cx="15087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995928" y="1298448"/>
            <a:ext cx="1874520" cy="274320"/>
          </a:xfrm>
          <a:prstGeom prst="roundRect">
            <a:avLst>
              <a:gd name="adj" fmla="val 20000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95928" y="131673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UNDERWRITING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55280" y="1298448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0" y="1316736"/>
            <a:ext cx="1828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17320" y="2907792"/>
            <a:ext cx="640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79776" y="2907792"/>
            <a:ext cx="640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142232" y="2907792"/>
            <a:ext cx="640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04688" y="2907792"/>
            <a:ext cx="640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67144" y="2907792"/>
            <a:ext cx="640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229600" y="2907792"/>
            <a:ext cx="640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92056" y="2907792"/>
            <a:ext cx="64008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0392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inquiry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58568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58568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75104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39696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KYC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66744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5B7FFF"/>
          </a:solidFill>
          <a:ln w="12700">
            <a:solidFill>
              <a:srgbClr val="5B7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66744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47872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74920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5B7FFF"/>
          </a:solidFill>
          <a:ln w="12700">
            <a:solidFill>
              <a:srgbClr val="5B7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83096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5B7FFF"/>
          </a:solidFill>
          <a:ln w="12700">
            <a:solidFill>
              <a:srgbClr val="5B7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83096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99632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committee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891272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91272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63A"/>
                </a:solidFill>
              </a:rPr>
              <a:t>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07808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0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disbursement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299448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99448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63A"/>
                </a:solidFill>
              </a:rPr>
              <a:t>7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15984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80576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Weekly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repayments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0707624" y="1847088"/>
            <a:ext cx="621792" cy="292608"/>
          </a:xfrm>
          <a:prstGeom prst="roundRect">
            <a:avLst>
              <a:gd name="adj" fmla="val 25000"/>
            </a:avLst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07624" y="185623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8263A"/>
                </a:solidFill>
              </a:rPr>
              <a:t>8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424160" y="2084832"/>
            <a:ext cx="1225296" cy="1444752"/>
          </a:xfrm>
          <a:prstGeom prst="roundRect">
            <a:avLst>
              <a:gd name="adj" fmla="val 5970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88752" y="2231136"/>
            <a:ext cx="896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Arrears</a:t>
            </a:r>
            <a:endParaRPr lang="en-US" sz="1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1826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22960" y="4160520"/>
            <a:ext cx="1056132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987552" y="4306824"/>
            <a:ext cx="10232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step typically requires manual staff intervention, coordination, and status follow-up before the case can move forward.</a:t>
            </a:r>
            <a:endParaRPr lang="en-US" sz="1700" dirty="0"/>
          </a:p>
        </p:txBody>
      </p:sp>
      <p:sp>
        <p:nvSpPr>
          <p:cNvPr id="52" name="Shape 50"/>
          <p:cNvSpPr/>
          <p:nvPr/>
        </p:nvSpPr>
        <p:spPr>
          <a:xfrm>
            <a:off x="3639312" y="5440680"/>
            <a:ext cx="4754880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39312" y="54498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number of handoffs = higher delay and error risk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Branch Structure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1874520"/>
            <a:ext cx="0" cy="393192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1828800" y="2395728"/>
            <a:ext cx="-932688" cy="36576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2395728"/>
            <a:ext cx="0" cy="36576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2395728"/>
            <a:ext cx="932688" cy="36576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0" y="2395728"/>
            <a:ext cx="1865376" cy="36576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005840" y="123444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13533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Branch Manager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82880" y="27432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" y="28620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Loan Officer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" y="3127248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onboarding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25880" y="27432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90472" y="28620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Collections Officer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90472" y="3127248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Repayment follow-ups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27432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33472" y="28620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 / Cashier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633472" y="3127248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 control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11880" y="2743200"/>
            <a:ext cx="1463040" cy="960120"/>
          </a:xfrm>
          <a:prstGeom prst="roundRect">
            <a:avLst>
              <a:gd name="adj" fmla="val 7619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76472" y="2862072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Admin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76472" y="3127248"/>
            <a:ext cx="1133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communication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15000" y="1234440"/>
            <a:ext cx="585216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79592" y="1353312"/>
            <a:ext cx="552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Typical branch roles and responsibilities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961888" y="1627632"/>
            <a:ext cx="2011680" cy="402336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65008" y="1627632"/>
            <a:ext cx="3172968" cy="402336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61888" y="17373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Role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65008" y="173736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Primary responsibility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961888" y="2084832"/>
            <a:ext cx="2011680" cy="356616"/>
          </a:xfrm>
          <a:prstGeom prst="rect">
            <a:avLst/>
          </a:prstGeom>
          <a:solidFill>
            <a:srgbClr val="EFF4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5008" y="2084832"/>
            <a:ext cx="3172968" cy="356616"/>
          </a:xfrm>
          <a:prstGeom prst="rect">
            <a:avLst/>
          </a:prstGeom>
          <a:solidFill>
            <a:srgbClr val="EFF4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17627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</a:rPr>
              <a:t>Branch Manager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83880" y="217627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6F"/>
                </a:solidFill>
              </a:rPr>
              <a:t>Loan approvals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61888" y="2478024"/>
            <a:ext cx="2011680" cy="356616"/>
          </a:xfrm>
          <a:prstGeom prst="rect">
            <a:avLst/>
          </a:prstGeom>
          <a:solidFill>
            <a:srgbClr val="F9FBFE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65008" y="2478024"/>
            <a:ext cx="3172968" cy="356616"/>
          </a:xfrm>
          <a:prstGeom prst="rect">
            <a:avLst/>
          </a:prstGeom>
          <a:solidFill>
            <a:srgbClr val="F9FBFE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80760" y="2569464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</a:rPr>
              <a:t>Loan Officer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256946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6F"/>
                </a:solidFill>
              </a:rPr>
              <a:t>Customer onboarding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61888" y="2871216"/>
            <a:ext cx="2011680" cy="356616"/>
          </a:xfrm>
          <a:prstGeom prst="rect">
            <a:avLst/>
          </a:prstGeom>
          <a:solidFill>
            <a:srgbClr val="EFF4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65008" y="2871216"/>
            <a:ext cx="3172968" cy="356616"/>
          </a:xfrm>
          <a:prstGeom prst="rect">
            <a:avLst/>
          </a:prstGeom>
          <a:solidFill>
            <a:srgbClr val="EFF4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2962656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</a:rPr>
              <a:t>Collections Officer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296265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6F"/>
                </a:solidFill>
              </a:rPr>
              <a:t>Repayment follow-ups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61888" y="3264408"/>
            <a:ext cx="2011680" cy="356616"/>
          </a:xfrm>
          <a:prstGeom prst="rect">
            <a:avLst/>
          </a:prstGeom>
          <a:solidFill>
            <a:srgbClr val="F9FBFE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065008" y="3264408"/>
            <a:ext cx="3172968" cy="356616"/>
          </a:xfrm>
          <a:prstGeom prst="rect">
            <a:avLst/>
          </a:prstGeom>
          <a:solidFill>
            <a:srgbClr val="F9FBFE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0760" y="335584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</a:rPr>
              <a:t>Finance / Cashier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33558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6F"/>
                </a:solidFill>
              </a:rPr>
              <a:t>Cash control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961888" y="3657600"/>
            <a:ext cx="2011680" cy="356616"/>
          </a:xfrm>
          <a:prstGeom prst="rect">
            <a:avLst/>
          </a:prstGeom>
          <a:solidFill>
            <a:srgbClr val="EFF4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65008" y="3657600"/>
            <a:ext cx="3172968" cy="356616"/>
          </a:xfrm>
          <a:prstGeom prst="rect">
            <a:avLst/>
          </a:prstGeom>
          <a:solidFill>
            <a:srgbClr val="EFF4FA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80760" y="3749040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8263A"/>
                </a:solidFill>
              </a:rPr>
              <a:t>Admin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183880" y="37490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6566F"/>
                </a:solidFill>
              </a:rPr>
              <a:t>Customer communication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852160" y="4709160"/>
            <a:ext cx="5440680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52160" y="4718304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operating model depends heavily on staff availability and experience.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AI Can Transform Operations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110185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54480"/>
            <a:ext cx="4023360" cy="402336"/>
          </a:xfrm>
          <a:prstGeom prst="roundRect">
            <a:avLst>
              <a:gd name="adj" fmla="val 9091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6048" y="1554480"/>
            <a:ext cx="6172200" cy="402336"/>
          </a:xfrm>
          <a:prstGeom prst="roundRect">
            <a:avLst>
              <a:gd name="adj" fmla="val 9091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6642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Current task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56048" y="1664208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F3A"/>
                </a:solidFill>
              </a:rPr>
              <a:t>AI opportunity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41248" y="2039112"/>
            <a:ext cx="402336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56048" y="2039112"/>
            <a:ext cx="617220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671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63A"/>
                </a:solidFill>
              </a:rPr>
              <a:t>Customer inquiries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38928" y="2167128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566F"/>
                </a:solidFill>
              </a:rPr>
              <a:t>AI chat assistant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1248" y="2569464"/>
            <a:ext cx="4023360" cy="457200"/>
          </a:xfrm>
          <a:prstGeom prst="rect">
            <a:avLst/>
          </a:prstGeom>
          <a:solidFill>
            <a:srgbClr val="F8FAFD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56048" y="2569464"/>
            <a:ext cx="6172200" cy="457200"/>
          </a:xfrm>
          <a:prstGeom prst="rect">
            <a:avLst/>
          </a:prstGeom>
          <a:solidFill>
            <a:srgbClr val="F8FAFD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6974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63A"/>
                </a:solidFill>
              </a:rPr>
              <a:t>Customer classification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38928" y="2697480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566F"/>
                </a:solidFill>
              </a:rPr>
              <a:t>AI decision system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1248" y="3099816"/>
            <a:ext cx="402336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6048" y="3099816"/>
            <a:ext cx="617220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22783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63A"/>
                </a:solidFill>
              </a:rPr>
              <a:t>Loan eligibility checks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38928" y="3227832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566F"/>
                </a:solidFill>
              </a:rPr>
              <a:t>AI underwriting assistant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41248" y="3630168"/>
            <a:ext cx="4023360" cy="457200"/>
          </a:xfrm>
          <a:prstGeom prst="rect">
            <a:avLst/>
          </a:prstGeom>
          <a:solidFill>
            <a:srgbClr val="F8FAFD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3630168"/>
            <a:ext cx="6172200" cy="457200"/>
          </a:xfrm>
          <a:prstGeom prst="rect">
            <a:avLst/>
          </a:prstGeom>
          <a:solidFill>
            <a:srgbClr val="F8FAFD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7581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63A"/>
                </a:solidFill>
              </a:rPr>
              <a:t>Reminder calls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138928" y="3758184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566F"/>
                </a:solidFill>
              </a:rPr>
              <a:t>Automated AI reminders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841248" y="4160520"/>
            <a:ext cx="402336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4160520"/>
            <a:ext cx="6172200" cy="457200"/>
          </a:xfrm>
          <a:prstGeom prst="rect">
            <a:avLst/>
          </a:prstGeom>
          <a:solidFill>
            <a:srgbClr val="EEF3F9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7552" y="42885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63A"/>
                </a:solidFill>
              </a:rPr>
              <a:t>Arrears monitoring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38928" y="4288536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566F"/>
                </a:solidFill>
              </a:rPr>
              <a:t>AI risk detection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41248" y="4690872"/>
            <a:ext cx="4023360" cy="457200"/>
          </a:xfrm>
          <a:prstGeom prst="rect">
            <a:avLst/>
          </a:prstGeom>
          <a:solidFill>
            <a:srgbClr val="F8FAFD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56048" y="4690872"/>
            <a:ext cx="6172200" cy="457200"/>
          </a:xfrm>
          <a:prstGeom prst="rect">
            <a:avLst/>
          </a:prstGeom>
          <a:solidFill>
            <a:srgbClr val="F8FAFD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8263A"/>
                </a:solidFill>
              </a:rPr>
              <a:t>Customer service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138928" y="4818888"/>
            <a:ext cx="5806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6566F"/>
                </a:solidFill>
              </a:rPr>
              <a:t>AI support agents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788920" y="5989320"/>
            <a:ext cx="6583680" cy="347472"/>
          </a:xfrm>
          <a:prstGeom prst="roundRect">
            <a:avLst>
              <a:gd name="adj" fmla="val 31579"/>
            </a:avLst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599846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AI-assisted decision-making across the entire workflow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Introducing the Agentic Network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8016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99032"/>
            <a:ext cx="3419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an agentic model?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1664208"/>
            <a:ext cx="3419856" cy="4005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Uses multiple specialized AI agents, not one general-purpose model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agent has a defined role and task boundary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Agents exchange context and route cases automatically</a:t>
            </a:r>
            <a:endParaRPr lang="en-US" sz="16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 staff stay in control of approvals and exceptions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092440" y="3383280"/>
            <a:ext cx="0" cy="-155448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92440" y="3383280"/>
            <a:ext cx="1783080" cy="-64008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92440" y="3383280"/>
            <a:ext cx="1280160" cy="118872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92440" y="3383280"/>
            <a:ext cx="-1371600" cy="118872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92440" y="3383280"/>
            <a:ext cx="-1783080" cy="-64008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086600" y="2761488"/>
            <a:ext cx="2011680" cy="1234440"/>
          </a:xfrm>
          <a:prstGeom prst="roundRect">
            <a:avLst>
              <a:gd name="adj" fmla="val 5926"/>
            </a:avLst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51192" y="288036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Office Coordinator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51192" y="3145536"/>
            <a:ext cx="168249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tasks, summarizes cases, manages agent hand-offs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452360" y="1298448"/>
            <a:ext cx="1325880" cy="841248"/>
          </a:xfrm>
          <a:prstGeom prst="roundRect">
            <a:avLst>
              <a:gd name="adj" fmla="val 8696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1417320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Loan Agent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16952" y="1682496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Underwriting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0" y="2359152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91472" y="2478024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91472" y="274320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51392" y="4297680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15984" y="4416552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15984" y="4681728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&amp; checks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70448" y="4297680"/>
            <a:ext cx="1554480" cy="841248"/>
          </a:xfrm>
          <a:prstGeom prst="roundRect">
            <a:avLst>
              <a:gd name="adj" fmla="val 8696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441655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Support Agent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035040" y="4681728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queries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68112" y="2359152"/>
            <a:ext cx="1417320" cy="841248"/>
          </a:xfrm>
          <a:prstGeom prst="roundRect">
            <a:avLst>
              <a:gd name="adj" fmla="val 8696"/>
            </a:avLst>
          </a:prstGeom>
          <a:solidFill>
            <a:srgbClr val="E9F0F9"/>
          </a:solidFill>
          <a:ln w="12700">
            <a:solidFill>
              <a:srgbClr val="E9F0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32704" y="2478024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 Staff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632704" y="2743200"/>
            <a:ext cx="1088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&amp; resolve exceptions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217920" y="5486400"/>
            <a:ext cx="3840480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54955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Together: an agentic operational network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Agentic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C7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interaction model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38528" y="2926080"/>
            <a:ext cx="1856232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79008" y="2423160"/>
            <a:ext cx="1581912" cy="-68580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79008" y="2926080"/>
            <a:ext cx="1581912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779008" y="3429000"/>
            <a:ext cx="1581912" cy="68580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915400" y="1737360"/>
            <a:ext cx="1783080" cy="0"/>
          </a:xfrm>
          <a:prstGeom prst="line">
            <a:avLst/>
          </a:prstGeom>
          <a:noFill/>
          <a:ln w="12700">
            <a:solidFill>
              <a:srgbClr val="21C1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15400" y="2926080"/>
            <a:ext cx="1783080" cy="0"/>
          </a:xfrm>
          <a:prstGeom prst="line">
            <a:avLst/>
          </a:prstGeom>
          <a:noFill/>
          <a:ln w="12700">
            <a:solidFill>
              <a:srgbClr val="21C1B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15400" y="4114800"/>
            <a:ext cx="1783080" cy="0"/>
          </a:xfrm>
          <a:prstGeom prst="line">
            <a:avLst/>
          </a:prstGeom>
          <a:noFill/>
          <a:ln w="12700">
            <a:solidFill>
              <a:srgbClr val="21C1B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40080" y="2148840"/>
            <a:ext cx="1325880" cy="1508760"/>
          </a:xfrm>
          <a:prstGeom prst="roundRect">
            <a:avLst>
              <a:gd name="adj" fmla="val 551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67712"/>
            <a:ext cx="996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" y="2532888"/>
            <a:ext cx="99669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</a:t>
            </a:r>
            <a:endParaRPr lang="en-US" sz="1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Walk-in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822192" y="2148840"/>
            <a:ext cx="1938528" cy="1508760"/>
          </a:xfrm>
          <a:prstGeom prst="roundRect">
            <a:avLst>
              <a:gd name="adj" fmla="val 4848"/>
            </a:avLst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22677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Office Coordinator Agent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986784" y="2532888"/>
            <a:ext cx="1609344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Collects details, identifies intent, creates case summary, routes work</a:t>
            </a:r>
            <a:endParaRPr lang="en-US" sz="1260" dirty="0"/>
          </a:p>
        </p:txBody>
      </p:sp>
      <p:sp>
        <p:nvSpPr>
          <p:cNvPr id="18" name="Shape 16"/>
          <p:cNvSpPr/>
          <p:nvPr/>
        </p:nvSpPr>
        <p:spPr>
          <a:xfrm>
            <a:off x="7388352" y="1170432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2944" y="1289304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Loan Processing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552944" y="155448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88352" y="2359152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2944" y="2478024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Collections &amp; Reminder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552944" y="274320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 dates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Promises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Escalations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7388352" y="3547872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2944" y="3666744"/>
            <a:ext cx="1152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52944" y="3931920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Balances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Receipts</a:t>
            </a:r>
            <a:endParaRPr lang="en-US" sz="12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Reconciliation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16768" y="1143000"/>
            <a:ext cx="1005840" cy="1143000"/>
          </a:xfrm>
          <a:prstGeom prst="roundRect">
            <a:avLst>
              <a:gd name="adj" fmla="val 7273"/>
            </a:avLst>
          </a:prstGeom>
          <a:solidFill>
            <a:srgbClr val="EFF4FA"/>
          </a:solidFill>
          <a:ln w="12700">
            <a:solidFill>
              <a:srgbClr val="EFF4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81360" y="126187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Staff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0881360" y="1527048"/>
            <a:ext cx="676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approve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716768" y="2359152"/>
            <a:ext cx="1005840" cy="1143000"/>
          </a:xfrm>
          <a:prstGeom prst="roundRect">
            <a:avLst>
              <a:gd name="adj" fmla="val 7273"/>
            </a:avLst>
          </a:prstGeom>
          <a:solidFill>
            <a:srgbClr val="EFF4FA"/>
          </a:solidFill>
          <a:ln w="12700">
            <a:solidFill>
              <a:srgbClr val="EFF4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881360" y="2478024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0881360" y="2743200"/>
            <a:ext cx="676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716768" y="3575304"/>
            <a:ext cx="1005840" cy="1143000"/>
          </a:xfrm>
          <a:prstGeom prst="roundRect">
            <a:avLst>
              <a:gd name="adj" fmla="val 7273"/>
            </a:avLst>
          </a:prstGeom>
          <a:solidFill>
            <a:srgbClr val="EFF4FA"/>
          </a:solidFill>
          <a:ln w="12700">
            <a:solidFill>
              <a:srgbClr val="EFF4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81360" y="3694176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Manager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10881360" y="3959352"/>
            <a:ext cx="6766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</a:t>
            </a:r>
            <a:endParaRPr lang="en-US" sz="12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529584" y="5504688"/>
            <a:ext cx="5029200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9584" y="55138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are routed automatically between agents and staff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1: Office Coordinator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53312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Front-desk AI agent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392277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Handles customer chat and basic service requests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Collects customer details and case context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Identifies customer intent and urgency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Routes the request to the correct agent or staff member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Generates case summaries for branch staff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6428232" y="1965960"/>
            <a:ext cx="0" cy="41148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28232" y="2816352"/>
            <a:ext cx="0" cy="41148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28232" y="3657600"/>
            <a:ext cx="0" cy="41148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28232" y="4498848"/>
            <a:ext cx="0" cy="41148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715000" y="1371600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79592" y="149047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Receive inquiry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715000" y="2240280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235915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Collect details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715000" y="3090672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9592" y="3209544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Classify intent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715000" y="3931920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79592" y="4050792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Route case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15000" y="4773168"/>
            <a:ext cx="1444752" cy="530352"/>
          </a:xfrm>
          <a:prstGeom prst="roundRect">
            <a:avLst>
              <a:gd name="adj" fmla="val 13793"/>
            </a:avLst>
          </a:prstGeom>
          <a:solidFill>
            <a:srgbClr val="E9F0F9"/>
          </a:solidFill>
          <a:ln w="12700">
            <a:solidFill>
              <a:srgbClr val="E9F0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4892040"/>
            <a:ext cx="1115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Summarize for staff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35240" y="1481328"/>
            <a:ext cx="3566160" cy="4069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799832" y="1600200"/>
            <a:ext cx="3236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value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799832" y="1865376"/>
            <a:ext cx="3236976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Replaces much of the manual front-desk triage process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Improves response speed and case consistency</a:t>
            </a:r>
            <a:endParaRPr lang="en-US" sz="1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Creates a cleaner handoff into underwriting and service operations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2: Loan Processing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45262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53312"/>
            <a:ext cx="4197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Loan evaluation support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419709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Classifies customer eligibility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Determines the likely loan category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Checks for missing documents or data gaps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Calculates affordability estimates</a:t>
            </a:r>
            <a:endParaRPr lang="en-US" sz="16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Prepares a concise credit memo summary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5559552" y="1115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C7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059168" y="1755648"/>
            <a:ext cx="0" cy="374904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59168" y="2514600"/>
            <a:ext cx="0" cy="374904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59168" y="3273552"/>
            <a:ext cx="0" cy="374904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059168" y="4032504"/>
            <a:ext cx="0" cy="374904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577840" y="1417320"/>
            <a:ext cx="2962656" cy="502920"/>
          </a:xfrm>
          <a:prstGeom prst="roundRect">
            <a:avLst>
              <a:gd name="adj" fmla="val 14545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42432" y="153619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Applicant profile + loan request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06440" y="2176272"/>
            <a:ext cx="2505456" cy="502920"/>
          </a:xfrm>
          <a:prstGeom prst="roundRect">
            <a:avLst>
              <a:gd name="adj" fmla="val 14545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71032" y="2295144"/>
            <a:ext cx="21762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 completeness check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89320" y="2935224"/>
            <a:ext cx="2139696" cy="502920"/>
          </a:xfrm>
          <a:prstGeom prst="roundRect">
            <a:avLst>
              <a:gd name="adj" fmla="val 14545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3054096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Affordability estimate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99632" y="3694176"/>
            <a:ext cx="1719072" cy="502920"/>
          </a:xfrm>
          <a:prstGeom prst="roundRect">
            <a:avLst>
              <a:gd name="adj" fmla="val 14545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3813048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summary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55080" y="4453128"/>
            <a:ext cx="1408176" cy="502920"/>
          </a:xfrm>
          <a:prstGeom prst="roundRect">
            <a:avLst>
              <a:gd name="adj" fmla="val 14545"/>
            </a:avLst>
          </a:prstGeom>
          <a:solidFill>
            <a:srgbClr val="E9F0F9"/>
          </a:solidFill>
          <a:ln w="12700">
            <a:solidFill>
              <a:srgbClr val="E9F0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457200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Credit memo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40680" y="5248656"/>
            <a:ext cx="3822192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5257800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recommends — humans approve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646920" y="1508760"/>
            <a:ext cx="1600200" cy="187452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11512" y="1627632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Critical rule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811512" y="1892808"/>
            <a:ext cx="127101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D7E3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does not approve loans. Final authority remains with human decision-makers.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3: Collections &amp; Reminder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4251960" cy="452628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53312"/>
            <a:ext cx="3922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Repayment communication engine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392277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Sends repayment reminders before due dates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Tracks overdue payments automatically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Records promise-to-pay commitments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Escalates serious arrears to staff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Generates follow-up tasks for collection officers</a:t>
            </a:r>
            <a:endParaRPr lang="en-US" sz="1610" dirty="0"/>
          </a:p>
        </p:txBody>
      </p:sp>
      <p:sp>
        <p:nvSpPr>
          <p:cNvPr id="7" name="Text 5"/>
          <p:cNvSpPr/>
          <p:nvPr/>
        </p:nvSpPr>
        <p:spPr>
          <a:xfrm>
            <a:off x="5413248" y="10972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C7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Collections workflow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9632" y="2880360"/>
            <a:ext cx="704088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616952" y="2880360"/>
            <a:ext cx="704088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34272" y="2880360"/>
            <a:ext cx="704088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0" y="2148840"/>
            <a:ext cx="1005840" cy="1417320"/>
          </a:xfrm>
          <a:prstGeom prst="roundRect">
            <a:avLst>
              <a:gd name="adj" fmla="val 7273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226771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Before due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50992" y="2532888"/>
            <a:ext cx="676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reminders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2148840"/>
            <a:ext cx="1005840" cy="1417320"/>
          </a:xfrm>
          <a:prstGeom prst="roundRect">
            <a:avLst>
              <a:gd name="adj" fmla="val 7273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226771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Due 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68312" y="2532888"/>
            <a:ext cx="676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payment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1005840" cy="1417320"/>
          </a:xfrm>
          <a:prstGeom prst="roundRect">
            <a:avLst>
              <a:gd name="adj" fmla="val 7273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26771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Overdue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2532888"/>
            <a:ext cx="676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promise-to-pay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9738360" y="2148840"/>
            <a:ext cx="1005840" cy="1417320"/>
          </a:xfrm>
          <a:prstGeom prst="roundRect">
            <a:avLst>
              <a:gd name="adj" fmla="val 7273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2952" y="2267712"/>
            <a:ext cx="676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Serious arrears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02952" y="2532888"/>
            <a:ext cx="67665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Escalate to staff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5486400" y="4160520"/>
            <a:ext cx="5394960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41696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manual collection workload and improves repayment discipline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15000" y="4709160"/>
            <a:ext cx="49834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4855464"/>
            <a:ext cx="4654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missed or delayed payment can trigger the next best follow-up action automatically.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4: Finance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4343400" cy="452628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53312"/>
            <a:ext cx="4014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connected to financial records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618488"/>
            <a:ext cx="4014216" cy="4050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Verifies payments and receipts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Provides balances and due amounts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Tracks disbursement status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Supports cash reconciliation checks</a:t>
            </a:r>
            <a:endParaRPr lang="en-US" sz="161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1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Detects anomalies in financial records</a:t>
            </a:r>
            <a:endParaRPr lang="en-US" sz="1610" dirty="0"/>
          </a:p>
        </p:txBody>
      </p:sp>
      <p:sp>
        <p:nvSpPr>
          <p:cNvPr id="7" name="Shape 5"/>
          <p:cNvSpPr/>
          <p:nvPr/>
        </p:nvSpPr>
        <p:spPr>
          <a:xfrm>
            <a:off x="6858000" y="1874520"/>
            <a:ext cx="146304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372600" y="2606040"/>
            <a:ext cx="0" cy="114300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21040" y="4480560"/>
            <a:ext cx="-1463040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46520" y="2606040"/>
            <a:ext cx="0" cy="114300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00800" y="14173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53619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 verification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66760" y="233172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24505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Balance &amp; due amount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402336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414223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Disbursement status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00600" y="23317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2450592"/>
            <a:ext cx="1225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Anomaly alerts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549640" y="3794760"/>
            <a:ext cx="21945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14232" y="3941064"/>
            <a:ext cx="186537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transparency between field activity and the branch ledger.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Classification AI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484632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53312"/>
            <a:ext cx="4517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Automatic customer categorization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41248" y="1719072"/>
            <a:ext cx="932688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81965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74520" y="1719072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1965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63A"/>
                </a:solidFill>
              </a:rPr>
              <a:t>Inquiry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2295144"/>
            <a:ext cx="932688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39572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74520" y="2295144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239572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63A"/>
                </a:solidFill>
              </a:rPr>
              <a:t>Prospect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" y="2871216"/>
            <a:ext cx="932688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71800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871216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297180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63A"/>
                </a:solidFill>
              </a:rPr>
              <a:t>Group loan candidate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41248" y="3447288"/>
            <a:ext cx="932688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547872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447288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E9F0F9"/>
          </a:solidFill>
          <a:ln w="12700">
            <a:solidFill>
              <a:srgbClr val="E9F0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11680" y="354787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8263A"/>
                </a:solidFill>
              </a:rPr>
              <a:t>Trusted repeat borrower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41248" y="4023360"/>
            <a:ext cx="932688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123944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4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23360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41239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63A"/>
                </a:solidFill>
              </a:rPr>
              <a:t>Individual loan candidate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" y="4599432"/>
            <a:ext cx="932688" cy="384048"/>
          </a:xfrm>
          <a:prstGeom prst="roundRect">
            <a:avLst>
              <a:gd name="adj" fmla="val 1190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70001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Level 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599432"/>
            <a:ext cx="3200400" cy="384048"/>
          </a:xfrm>
          <a:prstGeom prst="roundRect">
            <a:avLst>
              <a:gd name="adj" fmla="val 11905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47000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8263A"/>
                </a:solidFill>
              </a:rPr>
              <a:t>Delinquent borrower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715000" y="1234440"/>
            <a:ext cx="58521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879592" y="1353312"/>
            <a:ext cx="55229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level triggers a different workflow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6053328" y="18288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1947672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Levels 0-1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217920" y="2212848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Nurture, capture details, and move the customer into onboarding.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053328" y="2852928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297180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Levels 2-4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6217920" y="3236976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to the right loan product and underwriting workflow.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053328" y="3877056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FBE4E4"/>
          </a:solidFill>
          <a:ln w="12700">
            <a:solidFill>
              <a:srgbClr val="FBE4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995928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Level 5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6217920" y="4261104"/>
            <a:ext cx="47914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collections monitoring, risk escalation, and tailored follow-up.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355080" y="5230368"/>
            <a:ext cx="4480560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523951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drives next-best agent action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AI-Driven Operational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6629400" cy="4434840"/>
          </a:xfrm>
          <a:prstGeom prst="roundRect">
            <a:avLst>
              <a:gd name="adj" fmla="val 164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572768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16355F"/>
          </a:solidFill>
          <a:ln w="12700">
            <a:solidFill>
              <a:srgbClr val="24487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6824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1EA"/>
                </a:solidFill>
              </a:rPr>
              <a:t>Active clients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87552" y="18653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1,248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767328" y="1572768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16355F"/>
          </a:solidFill>
          <a:ln w="12700">
            <a:solidFill>
              <a:srgbClr val="2448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13632" y="168249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1EA"/>
                </a:solidFill>
              </a:rPr>
              <a:t>Loan pipeline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13632" y="18653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1248" y="2414016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16355F"/>
          </a:solidFill>
          <a:ln w="12700">
            <a:solidFill>
              <a:srgbClr val="2448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52374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1EA"/>
                </a:solidFill>
              </a:rPr>
              <a:t>Overdue loans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87552" y="2706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67328" y="2414016"/>
            <a:ext cx="2651760" cy="658368"/>
          </a:xfrm>
          <a:prstGeom prst="roundRect">
            <a:avLst>
              <a:gd name="adj" fmla="val 6944"/>
            </a:avLst>
          </a:prstGeom>
          <a:solidFill>
            <a:srgbClr val="16355F"/>
          </a:solidFill>
          <a:ln w="12700">
            <a:solidFill>
              <a:srgbClr val="2448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252374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1EA"/>
                </a:solidFill>
              </a:rPr>
              <a:t>Cash status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13632" y="27066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Balanced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41248" y="3364992"/>
            <a:ext cx="2743200" cy="1783080"/>
          </a:xfrm>
          <a:prstGeom prst="roundRect">
            <a:avLst>
              <a:gd name="adj" fmla="val 2564"/>
            </a:avLst>
          </a:prstGeom>
          <a:solidFill>
            <a:srgbClr val="16355F"/>
          </a:solidFill>
          <a:ln w="12700">
            <a:solidFill>
              <a:srgbClr val="2448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52958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1EA"/>
                </a:solidFill>
              </a:rPr>
              <a:t>Repayment performance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97280" y="4160520"/>
            <a:ext cx="201168" cy="640080"/>
          </a:xfrm>
          <a:prstGeom prst="rect">
            <a:avLst/>
          </a:prstGeom>
          <a:solidFill>
            <a:srgbClr val="6D8CC7"/>
          </a:solidFill>
          <a:ln w="12700">
            <a:solidFill>
              <a:srgbClr val="6D8C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81328" y="3794760"/>
            <a:ext cx="201168" cy="1005840"/>
          </a:xfrm>
          <a:prstGeom prst="rect">
            <a:avLst/>
          </a:prstGeom>
          <a:solidFill>
            <a:srgbClr val="6D8CC7"/>
          </a:solidFill>
          <a:ln w="12700">
            <a:solidFill>
              <a:srgbClr val="6D8CC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65376" y="4023360"/>
            <a:ext cx="201168" cy="777240"/>
          </a:xfrm>
          <a:prstGeom prst="rect">
            <a:avLst/>
          </a:prstGeom>
          <a:solidFill>
            <a:srgbClr val="6D8CC7"/>
          </a:solidFill>
          <a:ln w="12700">
            <a:solidFill>
              <a:srgbClr val="6D8C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49424" y="3566160"/>
            <a:ext cx="201168" cy="1234440"/>
          </a:xfrm>
          <a:prstGeom prst="rect">
            <a:avLst/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33472" y="3886200"/>
            <a:ext cx="201168" cy="914400"/>
          </a:xfrm>
          <a:prstGeom prst="rect">
            <a:avLst/>
          </a:prstGeom>
          <a:solidFill>
            <a:srgbClr val="6D8CC7"/>
          </a:solidFill>
          <a:ln w="12700">
            <a:solidFill>
              <a:srgbClr val="6D8CC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67328" y="3364992"/>
            <a:ext cx="2743200" cy="1783080"/>
          </a:xfrm>
          <a:prstGeom prst="roundRect">
            <a:avLst>
              <a:gd name="adj" fmla="val 2564"/>
            </a:avLst>
          </a:prstGeom>
          <a:solidFill>
            <a:srgbClr val="16355F"/>
          </a:solidFill>
          <a:ln w="12700">
            <a:solidFill>
              <a:srgbClr val="2448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13632" y="352958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1EA"/>
                </a:solidFill>
              </a:rPr>
              <a:t>Portfolio risk trend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977640" y="4663440"/>
            <a:ext cx="2103120" cy="-749808"/>
          </a:xfrm>
          <a:prstGeom prst="line">
            <a:avLst/>
          </a:prstGeom>
          <a:noFill/>
          <a:ln w="12700">
            <a:solidFill>
              <a:srgbClr val="21C1B2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41064" y="4626864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89704" y="4279392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38344" y="442569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86984" y="405993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44184" y="3877056"/>
            <a:ext cx="73152" cy="731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1261872"/>
            <a:ext cx="4114800" cy="443484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662672" y="1380744"/>
            <a:ext cx="3785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managers see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662672" y="1645920"/>
            <a:ext cx="3785616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3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Active clients and loan pipeline</a:t>
            </a:r>
            <a:endParaRPr lang="en-US" sz="16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3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Repayment performance and overdue accounts</a:t>
            </a:r>
            <a:endParaRPr lang="en-US" sz="16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3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Cash reconciliation status</a:t>
            </a:r>
            <a:endParaRPr lang="en-US" sz="16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3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Staff workload and follow-up queues</a:t>
            </a:r>
            <a:endParaRPr lang="en-US" sz="16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3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Branch-level portfolio signals in real time</a:t>
            </a:r>
            <a:endParaRPr lang="en-US" sz="1630" dirty="0"/>
          </a:p>
        </p:txBody>
      </p:sp>
      <p:sp>
        <p:nvSpPr>
          <p:cNvPr id="35" name="Shape 33"/>
          <p:cNvSpPr/>
          <p:nvPr/>
        </p:nvSpPr>
        <p:spPr>
          <a:xfrm>
            <a:off x="7772400" y="5212080"/>
            <a:ext cx="3520440" cy="347472"/>
          </a:xfrm>
          <a:prstGeom prst="roundRect">
            <a:avLst>
              <a:gd name="adj" fmla="val 31579"/>
            </a:avLst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72400" y="52212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AI dashboard becomes the branch command center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53619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Efficiency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801368"/>
            <a:ext cx="3191256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Faster customer onboarding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Automated document and data checks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Reduced manual follow-up workload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334256" y="14173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98848" y="153619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Management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498848" y="1801368"/>
            <a:ext cx="3191256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Earlier delinquency detection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More consistent decision rules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Cleaner and more transparent records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10144" y="1417320"/>
            <a:ext cx="3520440" cy="41605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74736" y="1536192"/>
            <a:ext cx="3191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74736" y="1801368"/>
            <a:ext cx="3191256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Higher customer capacity per branch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Less dependence on manual coordination</a:t>
            </a:r>
            <a:endParaRPr lang="en-US" sz="1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repeatable model for multi-branch growth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34640" y="5742432"/>
            <a:ext cx="6492240" cy="347472"/>
          </a:xfrm>
          <a:prstGeom prst="roundRect">
            <a:avLst>
              <a:gd name="adj" fmla="val 3157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5751576"/>
            <a:ext cx="6492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turns branch operations into a faster, more controllable, and more scalable 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C1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MICROFINANCE 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Long-Term 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C7A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697480" y="2212848"/>
            <a:ext cx="1307592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705856" y="2212848"/>
            <a:ext cx="1307592" cy="0"/>
          </a:xfrm>
          <a:prstGeom prst="line">
            <a:avLst/>
          </a:prstGeom>
          <a:noFill/>
          <a:ln w="12700">
            <a:solidFill>
              <a:srgbClr val="5B7F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8368" y="1572768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DFF7F4"/>
          </a:solidFill>
          <a:ln w="12700">
            <a:solidFill>
              <a:srgbClr val="DFF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916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1956816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assistants supporting staff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3657600" y="1572768"/>
            <a:ext cx="2011680" cy="1261872"/>
          </a:xfrm>
          <a:prstGeom prst="roundRect">
            <a:avLst>
              <a:gd name="adj" fmla="val 5797"/>
            </a:avLst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6916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3822192" y="1956816"/>
            <a:ext cx="16824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agents coordinating operations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656832" y="1572768"/>
            <a:ext cx="2377440" cy="1261872"/>
          </a:xfrm>
          <a:prstGeom prst="roundRect">
            <a:avLst>
              <a:gd name="adj" fmla="val 5797"/>
            </a:avLst>
          </a:prstGeom>
          <a:solidFill>
            <a:srgbClr val="FFF4D9"/>
          </a:solidFill>
          <a:ln w="12700">
            <a:solidFill>
              <a:srgbClr val="FFF4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21424" y="1691640"/>
            <a:ext cx="20482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821424" y="1956816"/>
            <a:ext cx="20482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AI-orchestrated microfinance platform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658368" y="3383280"/>
            <a:ext cx="109728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  <a:effectLst>
            <a:outerShdw sx="100000" sy="100000" kx="0" ky="0" algn="bl" rotWithShape="0" blurRad="19050" dist="1016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502152"/>
            <a:ext cx="10643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826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capabilities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22960" y="3767328"/>
            <a:ext cx="1064361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Autonomous portfolio monitoring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Intelligent credit scoring and case prioritization</a:t>
            </a:r>
            <a:endParaRPr lang="en-US" sz="19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465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Multi-branch AI operations with shared intelligence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9966960" y="4617720"/>
            <a:ext cx="822960" cy="-731520"/>
          </a:xfrm>
          <a:prstGeom prst="line">
            <a:avLst/>
          </a:prstGeom>
          <a:noFill/>
          <a:ln w="12700">
            <a:solidFill>
              <a:srgbClr val="21C1B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66960" y="4617720"/>
            <a:ext cx="1325880" cy="0"/>
          </a:xfrm>
          <a:prstGeom prst="line">
            <a:avLst/>
          </a:prstGeom>
          <a:noFill/>
          <a:ln w="12700">
            <a:solidFill>
              <a:srgbClr val="21C1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66960" y="4617720"/>
            <a:ext cx="822960" cy="731520"/>
          </a:xfrm>
          <a:prstGeom prst="line">
            <a:avLst/>
          </a:prstGeom>
          <a:noFill/>
          <a:ln w="12700">
            <a:solidFill>
              <a:srgbClr val="21C1B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674352" y="4334256"/>
            <a:ext cx="566928" cy="566928"/>
          </a:xfrm>
          <a:prstGeom prst="ellipse">
            <a:avLst/>
          </a:prstGeom>
          <a:solidFill>
            <a:srgbClr val="21C1B2"/>
          </a:solidFill>
          <a:ln w="12700">
            <a:solidFill>
              <a:srgbClr val="21C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74352" y="44897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AI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680192" y="3657600"/>
            <a:ext cx="868680" cy="420624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80192" y="378561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Branch 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1137392" y="4389120"/>
            <a:ext cx="868680" cy="420624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137392" y="451713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Branch B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0680192" y="5120640"/>
            <a:ext cx="868680" cy="420624"/>
          </a:xfrm>
          <a:prstGeom prst="roundRect">
            <a:avLst>
              <a:gd name="adj" fmla="val 1087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80192" y="524865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Branch C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008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91A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Microfinance Platform</dc:title>
  <dc:subject>Transforming Microfinance Operations into an Agentic AI Network</dc:subject>
  <dc:creator>OpenAI</dc:creator>
  <cp:lastModifiedBy>OpenAI</cp:lastModifiedBy>
  <cp:revision>1</cp:revision>
  <dcterms:created xsi:type="dcterms:W3CDTF">2026-03-06T18:04:53Z</dcterms:created>
  <dcterms:modified xsi:type="dcterms:W3CDTF">2026-03-06T18:04:53Z</dcterms:modified>
</cp:coreProperties>
</file>